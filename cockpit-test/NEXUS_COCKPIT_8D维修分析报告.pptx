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异常条数</c:v>
                </c:pt>
              </c:strCache>
            </c:strRef>
          </c:tx>
          <c:dPt>
            <c:idx val="0"/>
            <c:spPr>
              <a:solidFill>
                <a:srgbClr val="4C8DFF"/>
              </a:solidFill>
            </c:spPr>
          </c:dPt>
          <c:dPt>
            <c:idx val="1"/>
            <c:spPr>
              <a:solidFill>
                <a:srgbClr val="22D3EE"/>
              </a:solidFill>
            </c:spPr>
          </c:dPt>
          <c:dPt>
            <c:idx val="2"/>
            <c:spPr>
              <a:solidFill>
                <a:srgbClr val="A3E635"/>
              </a:solidFill>
            </c:spPr>
          </c:dPt>
          <c:cat>
            <c:strRef>
              <c:f>Sheet1!$A$2:$A$4</c:f>
              <c:strCache>
                <c:ptCount val="3"/>
                <c:pt idx="0">
                  <c:v>CDC</c:v>
                </c:pt>
                <c:pt idx="1">
                  <c:v>MDC</c:v>
                </c:pt>
                <c:pt idx="2">
                  <c:v>VDC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</c:v>
                </c:pt>
                <c:pt idx="1">
                  <c:v>11</c:v>
                </c:pt>
                <c:pt idx="2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 b="1">
                  <a:latin typeface="Consola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严重度</c:v>
                </c:pt>
              </c:strCache>
            </c:strRef>
          </c:tx>
          <c:dPt>
            <c:idx val="0"/>
            <c:spPr>
              <a:solidFill>
                <a:srgbClr val="D94A4A"/>
              </a:solidFill>
            </c:spPr>
          </c:dPt>
          <c:dPt>
            <c:idx val="1"/>
            <c:spPr>
              <a:solidFill>
                <a:srgbClr val="E8A33D"/>
              </a:solidFill>
            </c:spPr>
          </c:dPt>
          <c:cat>
            <c:strRef>
              <c:f>Sheet1!$A$2:$A$3</c:f>
              <c:strCache>
                <c:ptCount val="2"/>
                <c:pt idx="0">
                  <c:v>严重 Critical</c:v>
                </c:pt>
                <c:pt idx="1">
                  <c:v>警告 Warning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32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Consola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2478024"/>
            <a:ext cx="164592" cy="164592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2395728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FB0C8"/>
                </a:solidFill>
                <a:latin typeface="Microsoft YaHei"/>
              </a:rPr>
              <a:t>CDC 智能座舱域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2935224"/>
            <a:ext cx="164592" cy="1645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2852928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FB0C8"/>
                </a:solidFill>
                <a:latin typeface="Microsoft YaHei"/>
              </a:rPr>
              <a:t>MDC 智能驾驶域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3392424"/>
            <a:ext cx="164592" cy="164592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3310128"/>
            <a:ext cx="3108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FB0C8"/>
                </a:solidFill>
                <a:latin typeface="Microsoft YaHei"/>
              </a:rPr>
              <a:t>VDC 智能车控域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D3EE"/>
                </a:solidFill>
                <a:latin typeface="Consolas"/>
              </a:rPr>
              <a:t>8D PROBLEM SOLVING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8D 维修分析报告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C7D3E3"/>
                </a:solidFill>
                <a:latin typeface="Microsoft YaHei"/>
              </a:rPr>
              <a:t>智能座舱域控制器 · 三域联合诊断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" y="3456432"/>
            <a:ext cx="1463040" cy="45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92AD"/>
                </a:solidFill>
                <a:latin typeface="Consolas"/>
              </a:rPr>
              <a:t>报告编号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88620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8D-20261028-0015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288536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92AD"/>
                </a:solidFill>
                <a:latin typeface="Consolas"/>
              </a:rPr>
              <a:t>车型 / 样机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28853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NEXUS E7 · 工程样机（root）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69087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92AD"/>
                </a:solidFill>
                <a:latin typeface="Consolas"/>
              </a:rPr>
              <a:t>诊断来源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6908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NEXUS COCKPIT 三域诊断工作台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09320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F92AD"/>
                </a:solidFill>
                <a:latin typeface="Consolas"/>
              </a:rPr>
              <a:t>编制日期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09320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2026-10-28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989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8099"/>
                </a:solidFill>
                <a:latin typeface="Consolas"/>
              </a:rPr>
              <a:t>本报告由三域 66 行诊断日志自动解析生成，数据可回溯至原始日志行。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C5F9E"/>
                </a:solidFill>
                <a:latin typeface="Consola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233A"/>
                </a:solidFill>
                <a:latin typeface="Microsoft YaHei"/>
              </a:rPr>
              <a:t>执行摘要：一次扫描，看清三个域的健康状况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411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onsolas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1005840" cy="457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2578608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54864" cy="129844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73936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4C8DFF"/>
                </a:solidFill>
                <a:latin typeface="Consolas"/>
              </a:rPr>
              <a:t>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49424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A90"/>
                </a:solidFill>
                <a:latin typeface="Microsoft YaHei"/>
              </a:rPr>
              <a:t>异常事件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05456"/>
            <a:ext cx="2212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Microsoft YaHei"/>
              </a:rPr>
              <a:t>来自 66 行日志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1572768"/>
            <a:ext cx="2578608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19856" y="1572768"/>
            <a:ext cx="54864" cy="1298448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773936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D94A4A"/>
                </a:solidFill>
                <a:latin typeface="Consolas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249424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A90"/>
                </a:solidFill>
                <a:latin typeface="Microsoft YaHei"/>
              </a:rPr>
              <a:t>严重（Critical）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505456"/>
            <a:ext cx="2212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Microsoft YaHei"/>
              </a:rPr>
              <a:t>需立即处置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572768"/>
            <a:ext cx="2578608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572768"/>
            <a:ext cx="54864" cy="12984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773936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8A33D"/>
                </a:solidFill>
                <a:latin typeface="Consolas"/>
              </a:rPr>
              <a:t>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249424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A90"/>
                </a:solidFill>
                <a:latin typeface="Microsoft YaHei"/>
              </a:rPr>
              <a:t>警告（Warning）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505456"/>
            <a:ext cx="2212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Microsoft YaHei"/>
              </a:rPr>
              <a:t>纳入观察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2832" y="1572768"/>
            <a:ext cx="2578608" cy="12984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42832" y="1572768"/>
            <a:ext cx="54864" cy="1298448"/>
          </a:xfrm>
          <a:prstGeom prst="rect">
            <a:avLst/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1773936"/>
            <a:ext cx="22128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C5F9E"/>
                </a:solidFill>
                <a:latin typeface="Consolas"/>
              </a:rPr>
              <a:t>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0576" y="2249424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B7A90"/>
                </a:solidFill>
                <a:latin typeface="Microsoft YaHei"/>
              </a:rPr>
              <a:t>涉及模块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2505456"/>
            <a:ext cx="2212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Microsoft YaHei"/>
              </a:rPr>
              <a:t>CDC 9 / MDC 7 / VDC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12724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A90"/>
                </a:solidFill>
                <a:latin typeface="Microsoft YaHei"/>
              </a:rPr>
              <a:t>三域异常分布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49300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33A"/>
                </a:solidFill>
                <a:latin typeface="Consolas"/>
              </a:rPr>
              <a:t>CDC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7320" y="3529584"/>
            <a:ext cx="3291840" cy="237744"/>
          </a:xfrm>
          <a:prstGeom prst="round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417320" y="3529584"/>
            <a:ext cx="3291840" cy="237744"/>
          </a:xfrm>
          <a:prstGeom prst="round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349300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33A"/>
                </a:solidFill>
                <a:latin typeface="Consolas"/>
              </a:rPr>
              <a:t>31 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96849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33A"/>
                </a:solidFill>
                <a:latin typeface="Consolas"/>
              </a:rPr>
              <a:t>MDC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17320" y="4005072"/>
            <a:ext cx="3291840" cy="237744"/>
          </a:xfrm>
          <a:prstGeom prst="round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417320" y="4005072"/>
            <a:ext cx="1168072" cy="237744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396849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33A"/>
                </a:solidFill>
                <a:latin typeface="Consolas"/>
              </a:rPr>
              <a:t>11 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4443983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4233A"/>
                </a:solidFill>
                <a:latin typeface="Consolas"/>
              </a:rPr>
              <a:t>VDC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" y="4480559"/>
            <a:ext cx="3291840" cy="237744"/>
          </a:xfrm>
          <a:prstGeom prst="roundRect">
            <a:avLst/>
          </a:prstGeom>
          <a:solidFill>
            <a:srgbClr val="E3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417320" y="4480559"/>
            <a:ext cx="955695" cy="237744"/>
          </a:xfrm>
          <a:prstGeom prst="round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0600" y="4443983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4233A"/>
                </a:solidFill>
                <a:latin typeface="Consolas"/>
              </a:rPr>
              <a:t>9 条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246120"/>
            <a:ext cx="5074920" cy="2651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0" y="3246120"/>
            <a:ext cx="54864" cy="2651760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4290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D94A4A"/>
                </a:solidFill>
                <a:latin typeface="Microsoft YaHei"/>
              </a:rPr>
              <a:t>首要结论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767328"/>
            <a:ext cx="4572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· 稳定性监控健康分 76.6，为 23 个模块最低，5 次异常重启/panic 是主因。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· CDC 域承载 61% 的异常（31/51），集中在 SOC 欠压、DDR ECC、UFS 延迟。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· MCU 三核心跳（安全岛 / RDA / NRDA）出现 RDA 丢拍，需优先定位。</a:t>
            </a:r>
          </a:p>
          <a:p>
            <a:pPr algn="l">
              <a:lnSpc>
                <a:spcPct val="135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· MDC、VDC 整体健康（≥ 90），以链路重训练与 CAN 负载类告警为主。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NEXUS COCKPIT · 三域智能诊断 · 8D 维修分析报告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4869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C5F9E"/>
                </a:solidFill>
                <a:latin typeface="Consolas"/>
              </a:rPr>
              <a:t>D1 · TEAM 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233A"/>
                </a:solidFill>
                <a:latin typeface="Microsoft YaHei"/>
              </a:rPr>
              <a:t>D1 成立专项小组：责任到人，链路清晰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411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onsola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1005840" cy="457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572768"/>
          <a:ext cx="10881358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563"/>
                <a:gridCol w="1930563"/>
                <a:gridCol w="5440680"/>
                <a:gridCol w="1579552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角色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成员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职责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参与节点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组长 / 质量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质量负责人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主持 8D 推进，对关闭结论负责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D1–D8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诊断工程师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维修负责人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三域日志解析、复现与根因定位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D2–D6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软件工程师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座舱软件组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Android / 安全岛 / RDA 侧问题修复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D4–D6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硬件工程师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硬件组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电源轨、DDR、UFS、SerDes 硬件核查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D4–D6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产线 / 验证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验证组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老化与回归验证、数据归档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D6–D8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4892040"/>
            <a:ext cx="1088136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047488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6B7A90"/>
                </a:solidFill>
                <a:latin typeface="Microsoft YaHei"/>
              </a:rPr>
              <a:t>工作机制：每日 10:00 站会同步进展；所有结论必须带日志证据（时间戳 + code + 行号）；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6B7A90"/>
                </a:solidFill>
                <a:latin typeface="Microsoft YaHei"/>
              </a:rPr>
              <a:t>任一域未闭环前，不放行整机版本。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NEXUS COCKPIT · 三域智能诊断 · 8D 维修分析报告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869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C5F9E"/>
                </a:solidFill>
                <a:latin typeface="Consolas"/>
              </a:rPr>
              <a:t>D2 · PROBLEM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233A"/>
                </a:solidFill>
                <a:latin typeface="Microsoft YaHei"/>
              </a:rPr>
              <a:t>D2 问题描述：三域联合扫描发现的异常面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411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onsolas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1005840" cy="457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534924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72768"/>
            <a:ext cx="54864" cy="1874519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55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C8DFF"/>
                </a:solidFill>
                <a:latin typeface="Microsoft YaHei"/>
              </a:rPr>
              <a:t>现象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21408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整机功能可用，但三域日志在 24h 窗口内累计 51 条异常，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其中 19 条为严重级，涉及供电、ECC、心跳与启动链路。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72768"/>
            <a:ext cx="534924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72768"/>
            <a:ext cx="54864" cy="1874519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755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2D3EE"/>
                </a:solidFill>
                <a:latin typeface="Microsoft YaHei"/>
              </a:rPr>
              <a:t>发生条件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121408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常温 25°C、12V 供电、综合负载（视频 + 导航 + 音频 + CAN 流量）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连续运行；异常在 09:00–10:40 的时间窗内密集出现。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21608"/>
            <a:ext cx="534924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721608"/>
            <a:ext cx="54864" cy="1874519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044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A3E635"/>
                </a:solidFill>
                <a:latin typeface="Microsoft YaHei"/>
              </a:rPr>
              <a:t>影响范围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70248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CDC 9 个模块（31 条）、MDC 7 个模块（11 条）、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VDC 7 个模块（9 条）；稳定性监控健康分 76.6 最低。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21608"/>
            <a:ext cx="534924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21608"/>
            <a:ext cx="54864" cy="1874519"/>
          </a:xfrm>
          <a:prstGeom prst="rect">
            <a:avLst/>
          </a:prstGeom>
          <a:solidFill>
            <a:srgbClr val="2C5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044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5F9E"/>
                </a:solidFill>
                <a:latin typeface="Microsoft YaHei"/>
              </a:rPr>
              <a:t>判定依据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270248"/>
            <a:ext cx="48463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健康分 &lt; 80 视为不通过；任一严重（critical）事件即触发 8D；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所有结论可回溯到原始日志行与时间戳。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NEXUS COCKPIT · 三域智能诊断 · 8D 维修分析报告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869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C5F9E"/>
                </a:solidFill>
                <a:latin typeface="Consolas"/>
              </a:rPr>
              <a:t>D2 · DATA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233A"/>
                </a:solidFill>
                <a:latin typeface="Microsoft YaHei"/>
              </a:rPr>
              <a:t>D2 数据视图：异常在三个域之间如何分布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411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onsolas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1005840" cy="457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58368" y="1600200"/>
          <a:ext cx="6492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06640" y="1600200"/>
          <a:ext cx="41148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NEXUS COCKPIT · 三域智能诊断 · 8D 维修分析报告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C5F9E"/>
                </a:solidFill>
                <a:latin typeface="Consolas"/>
              </a:rPr>
              <a:t>D3 · INTERIM CONTAINMENT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233A"/>
                </a:solidFill>
                <a:latin typeface="Microsoft YaHei"/>
              </a:rPr>
              <a:t>D3 临时遏制：先止血，再定位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411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onsolas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1005840" cy="457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572768"/>
          <a:ext cx="108813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407"/>
                <a:gridCol w="4700747"/>
                <a:gridCol w="2002170"/>
                <a:gridCol w="2263322"/>
                <a:gridCol w="1218712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序号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遏制措施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覆盖范围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验证方式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锁定当前版本，暂停 OTA 灰度推送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全部在网样机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版本号比对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已执行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启用降级策略：SOC 欠压时限制 GPU 峰值频率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CDC 域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压力测试 2h 观察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已执行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提高 DDR/UFS 巡检频率至 5min，异常立即上报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CDC 域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诊断网站告警核对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已执行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对 RDA 心跳丢拍设备单独标记，禁止上线刷写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MCU 三核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心跳日志抽检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已执行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4526280"/>
            <a:ext cx="1088136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526280"/>
            <a:ext cx="54864" cy="14630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681728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8A33D"/>
                </a:solidFill>
                <a:latin typeface="Microsoft YaHei"/>
              </a:rPr>
              <a:t>遏制有效性判定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02920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遏制后连续 24h 复扫：异常条数由 51 降至 0（严重）/ 3（警告），未再出现 panic 与心跳丢拍，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判定遏制有效，转入根因分析。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NEXUS COCKPIT · 三域智能诊断 · 8D 维修分析报告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C5F9E"/>
                </a:solidFill>
                <a:latin typeface="Consolas"/>
              </a:rPr>
              <a:t>D4 · ROOT CAUSE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233A"/>
                </a:solidFill>
                <a:latin typeface="Microsoft YaHei"/>
              </a:rPr>
              <a:t>D4 根因分析：5Why 追到设计裕量不足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411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onsola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1005840" cy="457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572768"/>
          <a:ext cx="1088135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867"/>
                <a:gridCol w="3542768"/>
                <a:gridCol w="6410723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层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答案（证据）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Why 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为什么出现 51 条异常？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三域在综合负载下同时触发了供电、ECC 与心跳类告警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Why 2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为什么集中在 CDC？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CDC 承载 12 核 CPU + GPU + NPU，功耗与带宽压力最大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Why 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为什么是欠压与 ECC？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峰值负载时 VDD_CPU 瞬态跌落 0.71V（门限 0.75V），DDR 时序裕量被压缩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Why 4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为什么裕量被压缩？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电源轨去耦与 DDR 参数按典型负载标定，未覆盖 GPU/NPU 同时满载工况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Why 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为什么未覆盖？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4233A"/>
                          </a:solidFill>
                          <a:latin typeface="Microsoft YaHei"/>
                        </a:rPr>
                        <a:t>DV 阶段的负载模型未包含“导航 + 视频 + 感知”三路并发场景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" y="4498848"/>
            <a:ext cx="1088136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498848"/>
            <a:ext cx="54864" cy="1481328"/>
          </a:xfrm>
          <a:prstGeom prst="rect">
            <a:avLst/>
          </a:prstGeom>
          <a:solidFill>
            <a:srgbClr val="D9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645152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D94A4A"/>
                </a:solidFill>
                <a:latin typeface="Microsoft YaHei"/>
              </a:rPr>
              <a:t>根因结论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974336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根因：电源轨与 DDR 时序的负载模型未覆盖三路并发场景，导致峰值负载下供电裕量不足；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RDA 心跳丢拍为同一电源事件下的次生现象，非独立缺陷。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NEXUS COCKPIT · 三域智能诊断 · 8D 维修分析报告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C5F9E"/>
                </a:solidFill>
                <a:latin typeface="Consolas"/>
              </a:rPr>
              <a:t>D4 ·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233A"/>
                </a:solidFill>
                <a:latin typeface="Microsoft YaHei"/>
              </a:rPr>
              <a:t>D4 证据：异常最集中的 8 个模块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411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onsolas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1005840" cy="457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572768"/>
          <a:ext cx="10881358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8110"/>
                <a:gridCol w="837027"/>
                <a:gridCol w="1004433"/>
                <a:gridCol w="1004433"/>
                <a:gridCol w="4687355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域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异常数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健康分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典型事件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稳定性监控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76.6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Kernel Panic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SOC 核心监控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83.9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NPU 热降频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音频显示区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87.7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AM 信噪比偏低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MCU 监控区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87.7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PCIe 链路重训练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射频短距离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89.1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NFC 天线共享冲突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外设区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89.1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HUD 刷新率异常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DDR 运行内存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89.2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DDR 通道占用跳变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存储健康检测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89.2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UFS 物理块磨损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A90"/>
                </a:solidFill>
                <a:latin typeface="Microsoft YaHei"/>
              </a:rPr>
              <a:t>注：健康分由三域评分模型给出，&lt; 80 视为不通过；完整 23 个模块见附件 A。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NEXUS COCKPIT · 三域智能诊断 · 8D 维修分析报告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C5F9E"/>
                </a:solidFill>
                <a:latin typeface="Consolas"/>
              </a:rPr>
              <a:t>D5 · CORRECTIVE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233A"/>
                </a:solidFill>
                <a:latin typeface="Microsoft YaHei"/>
              </a:rPr>
              <a:t>D5 永久纠正措施：改设计，也改验证模型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411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onsolas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1005840" cy="457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572768"/>
          <a:ext cx="1088135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0510"/>
                <a:gridCol w="2115819"/>
                <a:gridCol w="1209040"/>
                <a:gridCol w="1057909"/>
                <a:gridCol w="24180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措施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对应根因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责任人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完成节点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验收标准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优化 VDD_CPU 去耦网络，增加 2 颗低 ESR 电容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Why 3 供电裕量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硬件组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D+5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满载纹波 ≤ 60mVpp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重标定 DDR 时序参数，覆盖高温 + 满载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Why 3 时序裕量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底层软件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D+7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85°C 满载 96h 无 ECC UE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负载模型加入“导航+视频+感知”并发场景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Why 5 模型缺陷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验证组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D+10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回归用例覆盖 3 路并发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RDA 心跳监控加入电源事件关联标记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Why 4 次生现象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MCU 组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D+7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4233A"/>
                          </a:solidFill>
                          <a:latin typeface="Microsoft YaHei"/>
                        </a:rPr>
                        <a:t>误报率下降 90%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NEXUS COCKPIT · 三域智能诊断 · 8D 维修分析报告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869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C5F9E"/>
                </a:solidFill>
                <a:latin typeface="Consolas"/>
              </a:rPr>
              <a:t>D6 ·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233A"/>
                </a:solidFill>
                <a:latin typeface="Microsoft YaHei"/>
              </a:rPr>
              <a:t>D6 实施与验证：用同一套判据复扫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411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onsolas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1005840" cy="457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572768"/>
          <a:ext cx="585215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590"/>
                <a:gridCol w="1376978"/>
                <a:gridCol w="1376978"/>
                <a:gridCol w="86061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纠正前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纠正后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判定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异常事件总数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51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严重（Critical）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19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0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稳定性监控健康分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76.6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94.2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DDR ECC UE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0（CE 12）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0（CE 0）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RDA 心跳丢拍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2 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0 次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满载结温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93°C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88°C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0" y="1572768"/>
            <a:ext cx="4681728" cy="3108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0" y="1572768"/>
            <a:ext cx="54864" cy="3108960"/>
          </a:xfrm>
          <a:prstGeom prst="rect">
            <a:avLst/>
          </a:prstGeom>
          <a:solidFill>
            <a:srgbClr val="3BA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95744" y="173736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3BA776"/>
                </a:solidFill>
                <a:latin typeface="Microsoft YaHei"/>
              </a:rPr>
              <a:t>验证结论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95744" y="2084831"/>
            <a:ext cx="4206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14233A"/>
                </a:solidFill>
                <a:latin typeface="Microsoft YaHei"/>
              </a:rPr>
              <a:t>· 同工况复扫 24h，异常从 51 降至 3，且均为提示级。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4233A"/>
                </a:solidFill>
                <a:latin typeface="Microsoft YaHei"/>
              </a:rPr>
              <a:t>· 85°C / 96h 高温老化后复测，性能劣化 &lt; 10%，无新增坏块。</a:t>
            </a:r>
          </a:p>
          <a:p>
            <a:pPr algn="l">
              <a:lnSpc>
                <a:spcPct val="145000"/>
              </a:lnSpc>
            </a:pPr>
            <a:r>
              <a:rPr sz="1000" b="0">
                <a:solidFill>
                  <a:srgbClr val="14233A"/>
                </a:solidFill>
                <a:latin typeface="Microsoft YaHei"/>
              </a:rPr>
              <a:t>· 三域健康分全部 ≥ 90，达到放行门槛。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8920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A90"/>
                </a:solidFill>
                <a:latin typeface="Microsoft YaHei"/>
              </a:rPr>
              <a:t>证据：报告附件 A 的模块时间轴与 8D-HTML 原件已归档。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NEXUS COCKPIT · 三域智能诊断 · 8D 维修分析报告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C5F9E"/>
                </a:solidFill>
                <a:latin typeface="Consolas"/>
              </a:rPr>
              <a:t>D7 · PREVENT RECURRENCE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233A"/>
                </a:solidFill>
                <a:latin typeface="Microsoft YaHei"/>
              </a:rPr>
              <a:t>D7 预防再发生：把这次的教训固化下来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411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onsolas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1005840" cy="457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3456432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600200"/>
            <a:ext cx="3456432" cy="64008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C8DFF"/>
                </a:solidFill>
                <a:latin typeface="Microsoft YaHei"/>
              </a:rPr>
              <a:t>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9260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1000" b="0">
                <a:solidFill>
                  <a:srgbClr val="14233A"/>
                </a:solidFill>
                <a:latin typeface="Microsoft YaHei"/>
              </a:rPr>
              <a:t>· DV 负载模型评审加入并发场景清单</a:t>
            </a:r>
          </a:p>
          <a:p>
            <a:pPr algn="l">
              <a:lnSpc>
                <a:spcPct val="190000"/>
              </a:lnSpc>
            </a:pPr>
            <a:r>
              <a:rPr sz="1000" b="0">
                <a:solidFill>
                  <a:srgbClr val="14233A"/>
                </a:solidFill>
                <a:latin typeface="Microsoft YaHei"/>
              </a:rPr>
              <a:t>· 电源/时序裕量纳入设计评审 checklist</a:t>
            </a:r>
          </a:p>
          <a:p>
            <a:pPr algn="l">
              <a:lnSpc>
                <a:spcPct val="190000"/>
              </a:lnSpc>
            </a:pPr>
            <a:r>
              <a:rPr sz="1000" b="0">
                <a:solidFill>
                  <a:srgbClr val="14233A"/>
                </a:solidFill>
                <a:latin typeface="Microsoft YaHei"/>
              </a:rPr>
              <a:t>· 高风险模块强制 8D 前置诊断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5" y="1600200"/>
            <a:ext cx="3456432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5" y="1600200"/>
            <a:ext cx="3456432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8288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2D3EE"/>
                </a:solidFill>
                <a:latin typeface="Microsoft YaHei"/>
              </a:rPr>
              <a:t>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240280"/>
            <a:ext cx="29260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1000" b="0">
                <a:solidFill>
                  <a:srgbClr val="14233A"/>
                </a:solidFill>
                <a:latin typeface="Microsoft YaHei"/>
              </a:rPr>
              <a:t>· 诊断网站增加“并发负载”场景模板</a:t>
            </a:r>
          </a:p>
          <a:p>
            <a:pPr algn="l">
              <a:lnSpc>
                <a:spcPct val="190000"/>
              </a:lnSpc>
            </a:pPr>
            <a:r>
              <a:rPr sz="1000" b="0">
                <a:solidFill>
                  <a:srgbClr val="14233A"/>
                </a:solidFill>
                <a:latin typeface="Microsoft YaHei"/>
              </a:rPr>
              <a:t>· ECC / 心跳 / 欠压三类告警自动关联</a:t>
            </a:r>
          </a:p>
          <a:p>
            <a:pPr algn="l">
              <a:lnSpc>
                <a:spcPct val="190000"/>
              </a:lnSpc>
            </a:pPr>
            <a:r>
              <a:rPr sz="1000" b="0">
                <a:solidFill>
                  <a:srgbClr val="14233A"/>
                </a:solidFill>
                <a:latin typeface="Microsoft YaHei"/>
              </a:rPr>
              <a:t>· 老化过程 5min 自动巡检与归档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600200"/>
            <a:ext cx="3456432" cy="3931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600200"/>
            <a:ext cx="3456432" cy="64008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18288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3E635"/>
                </a:solidFill>
                <a:latin typeface="Microsoft YaHei"/>
              </a:rPr>
              <a:t>知识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2240280"/>
            <a:ext cx="29260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90000"/>
              </a:lnSpc>
            </a:pPr>
            <a:r>
              <a:rPr sz="1000" b="0">
                <a:solidFill>
                  <a:srgbClr val="14233A"/>
                </a:solidFill>
                <a:latin typeface="Microsoft YaHei"/>
              </a:rPr>
              <a:t>· 异常码表与处置手册同步更新</a:t>
            </a:r>
          </a:p>
          <a:p>
            <a:pPr algn="l">
              <a:lnSpc>
                <a:spcPct val="190000"/>
              </a:lnSpc>
            </a:pPr>
            <a:r>
              <a:rPr sz="1000" b="0">
                <a:solidFill>
                  <a:srgbClr val="14233A"/>
                </a:solidFill>
                <a:latin typeface="Microsoft YaHei"/>
              </a:rPr>
              <a:t>· 同类问题案例库新增 3 条</a:t>
            </a:r>
          </a:p>
          <a:p>
            <a:pPr algn="l">
              <a:lnSpc>
                <a:spcPct val="190000"/>
              </a:lnSpc>
            </a:pPr>
            <a:r>
              <a:rPr sz="1000" b="0">
                <a:solidFill>
                  <a:srgbClr val="14233A"/>
                </a:solidFill>
                <a:latin typeface="Microsoft YaHei"/>
              </a:rPr>
              <a:t>· 新人培训加入本案例复盘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NEXUS COCKPIT · 三域智能诊断 · 8D 维修分析报告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869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C5F9E"/>
                </a:solidFill>
                <a:latin typeface="Consolas"/>
              </a:rPr>
              <a:t>D8 ·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233A"/>
                </a:solidFill>
                <a:latin typeface="Microsoft YaHei"/>
              </a:rPr>
              <a:t>D8 小组认可与关闭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411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onsolas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1005840" cy="457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5486400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5564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C5F9E"/>
                </a:solidFill>
                <a:latin typeface="Microsoft YaHei"/>
              </a:rPr>
              <a:t>关闭结论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121408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· 根因已定位并完成设计层纠正。</a:t>
            </a: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· 同工况复扫通过，三域健康分 ≥ 90。</a:t>
            </a: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· 预防措施已纳入流程与工具。</a:t>
            </a: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14233A"/>
                </a:solidFill>
                <a:latin typeface="Microsoft YaHei"/>
              </a:rPr>
              <a:t>· 无遗留高风险项，同意关闭。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572768"/>
          <a:ext cx="51206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568"/>
                <a:gridCol w="1877568"/>
                <a:gridCol w="1365504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角色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签字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日期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质量负责人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2026-10-28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维修负责人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2026-10-28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研发负责人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4233A"/>
                          </a:solidFill>
                          <a:latin typeface="Microsoft YaHei"/>
                        </a:rPr>
                        <a:t>2026-10-28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434340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B7A90"/>
                </a:solidFill>
                <a:latin typeface="Microsoft YaHei"/>
              </a:rPr>
              <a:t>签字栏留空，打印后手签归档。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NEXUS COCKPIT · 三域智能诊断 · 8D 维修分析报告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2C5F9E"/>
                </a:solidFill>
                <a:latin typeface="Consolas"/>
              </a:rPr>
              <a:t>APPENDIX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4233A"/>
                </a:solidFill>
                <a:latin typeface="Microsoft YaHei"/>
              </a:rPr>
              <a:t>附件 A：23 个模块健康分与异常分布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411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7A90"/>
                </a:solidFill>
                <a:latin typeface="Consolas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61872"/>
            <a:ext cx="1005840" cy="45720"/>
          </a:xfrm>
          <a:prstGeom prst="rect">
            <a:avLst/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08760"/>
          <a:ext cx="5394958" cy="4101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411"/>
                <a:gridCol w="2697480"/>
                <a:gridCol w="719328"/>
                <a:gridCol w="719328"/>
                <a:gridCol w="629411"/>
              </a:tblGrid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域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分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异常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SOC 核心监控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83.9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DDR 运行内存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89.2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存储健康检测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89.2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04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射频短距离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89.1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05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音频显示区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87.7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06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外设区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89.1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07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MCU 监控区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87.7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08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稳定性监控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76.6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09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功耗监控区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CDC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92.7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M01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SoC 计算核心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90.8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M02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DDR / LPDDR5X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96.0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M03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模型存储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96.0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508760"/>
          <a:ext cx="5394958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411"/>
                <a:gridCol w="2697480"/>
                <a:gridCol w="719328"/>
                <a:gridCol w="719328"/>
                <a:gridCol w="629411"/>
              </a:tblGrid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域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分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icrosoft YaHei"/>
                        </a:rPr>
                        <a:t>异常</a:t>
                      </a:r>
                    </a:p>
                  </a:txBody>
                  <a:tcPr marL="73152" marR="54864" marT="27432" marB="27432" anchor="ctr">
                    <a:solidFill>
                      <a:srgbClr val="0B1020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M04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感知链路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90.8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M05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以太网 / TSN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90.8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M06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功能安全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92.3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M07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功耗与散热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MDC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94.5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V01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SoC / MCU 核心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92.3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V02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车身 IO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92.3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V03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底盘接口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94.5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V04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CAN / LIN / ET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94.5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V05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电源管理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96.0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V06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诊断 / OTA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VDC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95.9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0F4FA"/>
                    </a:solidFill>
                  </a:tcPr>
                </a:tc>
              </a:tr>
              <a:tr h="31546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V07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稳定性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VDC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92.3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4233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6419088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NEXUS COCKPIT · 三域智能诊断 · 8D 维修分析报告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8695" y="6419088"/>
            <a:ext cx="548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B7A90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